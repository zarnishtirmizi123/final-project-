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mp" ContentType="image/jpe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503" r:id="rId4"/>
  </p:sldMasterIdLst>
  <p:notesMasterIdLst>
    <p:notesMasterId r:id="rId13"/>
  </p:notesMasterIdLst>
  <p:sldIdLst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5DFFF"/>
    <a:srgbClr val="00FFFF"/>
    <a:srgbClr val="362795"/>
    <a:srgbClr val="10103D"/>
    <a:srgbClr val="D4D0E9"/>
    <a:srgbClr val="439EB7"/>
    <a:srgbClr val="000000"/>
    <a:srgbClr val="212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6357" autoAdjust="0"/>
  </p:normalViewPr>
  <p:slideViewPr>
    <p:cSldViewPr snapToGrid="0">
      <p:cViewPr>
        <p:scale>
          <a:sx n="100" d="100"/>
          <a:sy n="100" d="100"/>
        </p:scale>
        <p:origin x="-14" y="-538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notesMaster" Target="notesMasters/notesMaster1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viewProps" Target="viewProp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7771-3FAA-4D43-A059-9A7D838C2880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68C18-1BF1-F447-95ED-60EAAE354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support.microsoft.com/en-us/office/edit-your-school-presentation-44445997-6769-4d44-8b30-f9e3050adbfb?ui=en-us&amp;rs=en-us&amp;ad=us" TargetMode="External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svg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9987" y="884255"/>
            <a:ext cx="5148105" cy="2857510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8000" b="1" cap="all" baseline="0"/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B5661-7CA8-2748-8523-AD0DFD354C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8057" y="4552915"/>
            <a:ext cx="5030036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 b="1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057" y="4928790"/>
            <a:ext cx="5030036" cy="150267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63268" y="4083933"/>
            <a:ext cx="1253208" cy="0"/>
          </a:xfrm>
          <a:prstGeom prst="line">
            <a:avLst/>
          </a:prstGeom>
          <a:ln w="76200">
            <a:solidFill>
              <a:schemeClr val="accent2"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FF9B1CD-0F75-2582-F5BC-0027F62F80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8657" y="1064814"/>
            <a:ext cx="4884723" cy="5024485"/>
          </a:xfrm>
          <a:prstGeom prst="ellipse">
            <a:avLst/>
          </a:prstGeom>
          <a:ln w="952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65495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6B18601-29B7-CEC1-B476-E63FC26258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08647" y="1497208"/>
            <a:ext cx="8266112" cy="45418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359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2E5F8C-6D58-8F32-B51F-0C3D8A348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3739" y="0"/>
            <a:ext cx="7938261" cy="6858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7865" y="1665516"/>
            <a:ext cx="2492882" cy="350687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66693-B86C-0A7F-4122-5AFA50286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8FDCB9-AEA4-F924-769F-D7879C1F8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2978" y="1532515"/>
            <a:ext cx="777240" cy="77724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91440"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1B55E6-D30C-94A2-74A3-7753E4C42B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1376" y="1355087"/>
            <a:ext cx="5052635" cy="1132097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F472EDF-4FA4-A513-0E98-D822B8C958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22978" y="3030332"/>
            <a:ext cx="777240" cy="77724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91440"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466440-7F75-D2E2-E6A5-0B6934E0C4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1375" y="2852903"/>
            <a:ext cx="5052635" cy="1132097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67C585A-7EB8-F39C-0B1A-47CB38C471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22978" y="4528149"/>
            <a:ext cx="777240" cy="777240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91440" anchor="ctr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F912DBC-B36A-7029-667C-F843955330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1375" y="4350721"/>
            <a:ext cx="5052635" cy="1132097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23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8873926-7B78-3D8B-7329-EF50EAE6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52471" y="983016"/>
            <a:ext cx="7176252" cy="4806702"/>
            <a:chOff x="3843454" y="907788"/>
            <a:chExt cx="7789936" cy="521775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4085623-B323-15BB-984D-DDE69D4B9587}"/>
                </a:ext>
              </a:extLst>
            </p:cNvPr>
            <p:cNvSpPr/>
            <p:nvPr/>
          </p:nvSpPr>
          <p:spPr>
            <a:xfrm>
              <a:off x="3843454" y="3122988"/>
              <a:ext cx="3002552" cy="3002552"/>
            </a:xfrm>
            <a:prstGeom prst="ellipse">
              <a:avLst/>
            </a:prstGeom>
            <a:solidFill>
              <a:schemeClr val="accent2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C7E221-8D2B-CBFC-68D6-839D5E0657F8}"/>
                </a:ext>
              </a:extLst>
            </p:cNvPr>
            <p:cNvSpPr/>
            <p:nvPr/>
          </p:nvSpPr>
          <p:spPr>
            <a:xfrm>
              <a:off x="8630838" y="907788"/>
              <a:ext cx="3002552" cy="3002552"/>
            </a:xfrm>
            <a:prstGeom prst="ellipse">
              <a:avLst/>
            </a:prstGeom>
            <a:solidFill>
              <a:schemeClr val="accent2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75363E9-2831-22C4-5953-A85CCD374559}"/>
                </a:ext>
              </a:extLst>
            </p:cNvPr>
            <p:cNvSpPr/>
            <p:nvPr/>
          </p:nvSpPr>
          <p:spPr>
            <a:xfrm>
              <a:off x="6431113" y="2040522"/>
              <a:ext cx="2786092" cy="27860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9BC358-DA62-078E-A1CA-3210A4B84823}"/>
                </a:ext>
              </a:extLst>
            </p:cNvPr>
            <p:cNvSpPr/>
            <p:nvPr/>
          </p:nvSpPr>
          <p:spPr>
            <a:xfrm>
              <a:off x="6214653" y="1838034"/>
              <a:ext cx="3201728" cy="32017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66693-B86C-0A7F-4122-5AFA50286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7AB175B-864E-BA0F-E983-C33054BB0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7865" y="1665516"/>
            <a:ext cx="2492882" cy="350687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561" y="3838475"/>
            <a:ext cx="2146157" cy="98473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DE2C736-388B-9EFD-81DA-A15F750F95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5561" y="4857546"/>
            <a:ext cx="2146157" cy="3148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E321BD-9A11-AE29-8459-9C200AF797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33442" y="2753783"/>
            <a:ext cx="1984267" cy="94857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6DD92F1-24D0-50C9-4AB7-DC84EC5DE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3490" y="3702356"/>
            <a:ext cx="1984267" cy="3177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EFE4CF5-A2F0-8B32-3770-9CAA8D022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1447" y="1712736"/>
            <a:ext cx="1984267" cy="8960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79E692B-5B0D-1A20-90E6-6E364FBB4E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71447" y="2608801"/>
            <a:ext cx="1984267" cy="3651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9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2E5F8C-6D58-8F32-B51F-0C3D8A348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3739" y="0"/>
            <a:ext cx="7938261" cy="6858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7817" y="269182"/>
            <a:ext cx="3362008" cy="1196426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200" b="1"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7816" y="2100107"/>
            <a:ext cx="2899443" cy="30722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66693-B86C-0A7F-4122-5AFA50286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802953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38A35A-0479-9C12-5A6F-E459151CA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3485" y="873373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36BCCE0-8E96-CFD7-773F-6DD34953319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59245" y="1239133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1B55E6-D30C-94A2-74A3-7753E4C42B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6617" y="2504151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312D6E0-52A8-9730-81A1-85A486A1F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2181" y="873373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Picture Placeholder 27">
            <a:extLst>
              <a:ext uri="{FF2B5EF4-FFF2-40B4-BE49-F238E27FC236}">
                <a16:creationId xmlns:a16="http://schemas.microsoft.com/office/drawing/2014/main" id="{DDE02828-F855-FC8F-BE08-3709165F93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867941" y="1239133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27154A6-5E2E-B227-1A26-0180BD3790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5313" y="2504151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5C45418-A5D9-CF6D-A126-CFC582205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0877" y="873373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Picture Placeholder 27">
            <a:extLst>
              <a:ext uri="{FF2B5EF4-FFF2-40B4-BE49-F238E27FC236}">
                <a16:creationId xmlns:a16="http://schemas.microsoft.com/office/drawing/2014/main" id="{C9960172-8670-373D-A621-80693CE45A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76637" y="1239133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64550A4-3E55-BC7E-8E76-D618452D34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4009" y="2504151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3DC7D4-9A01-6517-BBA3-25985ED3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3485" y="3507830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8B660B9C-1FDD-B66C-4771-6927C706C1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559245" y="3895767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CEDB5D2-20DC-E42D-81A3-DD675DB5DA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06617" y="5112564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E0A5FF-B1AF-63A9-AB13-9C59EC05F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2181" y="3507830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Picture Placeholder 27">
            <a:extLst>
              <a:ext uri="{FF2B5EF4-FFF2-40B4-BE49-F238E27FC236}">
                <a16:creationId xmlns:a16="http://schemas.microsoft.com/office/drawing/2014/main" id="{CE1131E2-6ABA-CCF9-F1A8-115DB733B6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867941" y="3895767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11333C39-8C83-07F1-DB19-333B85C4D5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5313" y="5122612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5DEC11-1F32-4EAC-3FA0-360A3FEBE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0877" y="3507830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27">
            <a:extLst>
              <a:ext uri="{FF2B5EF4-FFF2-40B4-BE49-F238E27FC236}">
                <a16:creationId xmlns:a16="http://schemas.microsoft.com/office/drawing/2014/main" id="{ADD5603E-E24A-E9C5-D35F-A38DC46658F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176637" y="3895767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E65FCE6B-F5AD-CA04-8BC6-D677E90648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24009" y="5122612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2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cxnSp>
        <p:nvCxnSpPr>
          <p:cNvPr id="13" name="Straight Connector 12" descr="Verticle Rule Line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9171D-B8A1-3D4F-8F0C-145874B4BC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8647" y="1497208"/>
            <a:ext cx="8266112" cy="2471891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90BFEB1E-8991-0667-6BDA-AFC8E1A819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8647" y="4270548"/>
            <a:ext cx="8265604" cy="1090244"/>
          </a:xfrm>
        </p:spPr>
        <p:txBody>
          <a:bodyPr lIns="137160" tIns="0" rIns="0" bIns="0" numCol="3" spcCol="640080">
            <a:normAutofit/>
          </a:bodyPr>
          <a:lstStyle>
            <a:lvl1pPr marL="182880" indent="-347472">
              <a:lnSpc>
                <a:spcPct val="150000"/>
              </a:lnSpc>
              <a:buFont typeface="Arial" panose="020B0604020202020204" pitchFamily="34" charset="0"/>
              <a:buChar char="•"/>
              <a:defRPr sz="16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31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214692"/>
            <a:ext cx="3713700" cy="124598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200" b="1" cap="all" baseline="0"/>
            </a:lvl1pPr>
          </a:lstStyle>
          <a:p>
            <a:r>
              <a:rPr lang="en-US" dirty="0"/>
              <a:t>Add Title 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28743" y="2090054"/>
            <a:ext cx="8034492" cy="4093447"/>
          </a:xfrm>
        </p:spPr>
        <p:txBody>
          <a:bodyPr>
            <a:noAutofit/>
          </a:bodyPr>
          <a:lstStyle>
            <a:lvl1pPr marL="274320" indent="-274320">
              <a:lnSpc>
                <a:spcPct val="120000"/>
              </a:lnSpc>
              <a:spcBef>
                <a:spcPts val="30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792905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05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214692"/>
            <a:ext cx="3713700" cy="124598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200" b="1" cap="all" baseline="0"/>
            </a:lvl1pPr>
          </a:lstStyle>
          <a:p>
            <a:r>
              <a:rPr lang="en-US" dirty="0"/>
              <a:t>Add Title 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6288" y="2059910"/>
            <a:ext cx="4072934" cy="11254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400" u="sng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792905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 descr="Circle with left arrow with solid fill">
            <a:hlinkClick r:id="rId2"/>
            <a:extLst>
              <a:ext uri="{FF2B5EF4-FFF2-40B4-BE49-F238E27FC236}">
                <a16:creationId xmlns:a16="http://schemas.microsoft.com/office/drawing/2014/main" id="{D888B852-56B6-C839-5CBD-590D6856CF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192428" y="2103070"/>
            <a:ext cx="830997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4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44999A-DAD5-F853-1F66-4F461193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A5DA8F-E966-3396-E829-59C248D6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microsoft.com/office/2007/relationships/hdphoto" Target="../media/hdphoto1.wdp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1.png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accent5">
                <a:lumMod val="50000"/>
              </a:schemeClr>
            </a:gs>
            <a:gs pos="100000">
              <a:schemeClr val="accent5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colorfulness, purple, magenta, violet&#10;&#10;Description automatically generated">
            <a:extLst>
              <a:ext uri="{FF2B5EF4-FFF2-40B4-BE49-F238E27FC236}">
                <a16:creationId xmlns:a16="http://schemas.microsoft.com/office/drawing/2014/main" id="{21C67B27-3DCB-A612-1630-DEAAA09B86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alphaModFix amt="2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9871A-9A2C-2E6F-0221-5C00575E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15982-9619-48E7-255C-DAB69168F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0CA30-D605-A6EE-40D5-0F18CC14B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7005CC9-ACBC-4F41-893C-06CDEFA85144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EE9BE-1334-B164-BD91-65446700A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21F1D-6897-D2A8-3BF8-B5672CDFF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03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5" r:id="rId1"/>
    <p:sldLayoutId id="2147484516" r:id="rId2"/>
    <p:sldLayoutId id="2147484517" r:id="rId3"/>
    <p:sldLayoutId id="2147484518" r:id="rId4"/>
    <p:sldLayoutId id="2147484519" r:id="rId5"/>
    <p:sldLayoutId id="2147484520" r:id="rId6"/>
    <p:sldLayoutId id="2147484521" r:id="rId7"/>
    <p:sldLayoutId id="2147484522" r:id="rId8"/>
    <p:sldLayoutId id="214748451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13" Type="http://schemas.openxmlformats.org/officeDocument/2006/relationships/image" Target="../media/image16.svg" /><Relationship Id="rId3" Type="http://schemas.openxmlformats.org/officeDocument/2006/relationships/image" Target="../media/image6.svg" /><Relationship Id="rId7" Type="http://schemas.openxmlformats.org/officeDocument/2006/relationships/image" Target="../media/image10.svg" /><Relationship Id="rId12" Type="http://schemas.openxmlformats.org/officeDocument/2006/relationships/image" Target="../media/image15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9.png" /><Relationship Id="rId11" Type="http://schemas.openxmlformats.org/officeDocument/2006/relationships/image" Target="../media/image14.svg" /><Relationship Id="rId5" Type="http://schemas.openxmlformats.org/officeDocument/2006/relationships/image" Target="../media/image8.svg" /><Relationship Id="rId10" Type="http://schemas.openxmlformats.org/officeDocument/2006/relationships/image" Target="../media/image13.png" /><Relationship Id="rId4" Type="http://schemas.openxmlformats.org/officeDocument/2006/relationships/image" Target="../media/image7.png" /><Relationship Id="rId9" Type="http://schemas.openxmlformats.org/officeDocument/2006/relationships/image" Target="../media/image12.sv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BD28-376C-83FF-3BDA-B0F5DCD0E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353" y="1685365"/>
            <a:ext cx="5677647" cy="2366682"/>
          </a:xfrm>
        </p:spPr>
        <p:txBody>
          <a:bodyPr>
            <a:normAutofit/>
          </a:bodyPr>
          <a:lstStyle/>
          <a:p>
            <a:r>
              <a:rPr lang="en-GB" sz="8800" b="0" dirty="0">
                <a:latin typeface="Angsana New" panose="02020603050405020304" pitchFamily="18" charset="-34"/>
                <a:ea typeface="Kunstler Script" panose="02000000000000000000" pitchFamily="2" charset="0"/>
                <a:cs typeface="Angsana New" panose="02020603050405020304" pitchFamily="18" charset="-34"/>
              </a:rPr>
              <a:t>Zarnish </a:t>
            </a:r>
            <a:br>
              <a:rPr lang="en-GB" sz="8800" b="0" dirty="0">
                <a:latin typeface="Angsana New" panose="02020603050405020304" pitchFamily="18" charset="-34"/>
                <a:ea typeface="Kunstler Script" panose="02000000000000000000" pitchFamily="2" charset="0"/>
                <a:cs typeface="Angsana New" panose="02020603050405020304" pitchFamily="18" charset="-34"/>
              </a:rPr>
            </a:br>
            <a:r>
              <a:rPr lang="en-GB" sz="8800" b="0" dirty="0">
                <a:latin typeface="Angsana New" panose="02020603050405020304" pitchFamily="18" charset="-34"/>
                <a:ea typeface="Kunstler Script" panose="02000000000000000000" pitchFamily="2" charset="0"/>
                <a:cs typeface="Angsana New" panose="02020603050405020304" pitchFamily="18" charset="-34"/>
              </a:rPr>
              <a:t>Tirmizi </a:t>
            </a:r>
            <a:endParaRPr lang="en-US" sz="8800" b="0" dirty="0">
              <a:latin typeface="Angsana New" panose="02020603050405020304" pitchFamily="18" charset="-34"/>
              <a:ea typeface="Kunstler Script" panose="02000000000000000000" pitchFamily="2" charset="0"/>
              <a:cs typeface="Angsana New" panose="02020603050405020304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C5B2A-4E07-94EA-3944-3703FF79C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57" y="4552915"/>
            <a:ext cx="5030036" cy="365125"/>
          </a:xfrm>
        </p:spPr>
        <p:txBody>
          <a:bodyPr/>
          <a:lstStyle/>
          <a:p>
            <a:r>
              <a:rPr lang="en-US" dirty="0"/>
              <a:t>UNVEILING THE JOURNEY THAT SHAPED HER: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D781-0F38-BE75-A79C-DABE55E2F0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057" y="4928790"/>
            <a:ext cx="5030036" cy="1502677"/>
          </a:xfrm>
        </p:spPr>
        <p:txBody>
          <a:bodyPr/>
          <a:lstStyle/>
          <a:p>
            <a:r>
              <a:rPr lang="en-US" dirty="0"/>
              <a:t>A life in moments, memories, and milestones.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B249526-D038-B7B4-88AE-1D6E9B20789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5077" r="5077"/>
          <a:stretch/>
        </p:blipFill>
        <p:spPr>
          <a:xfrm>
            <a:off x="6208657" y="1064814"/>
            <a:ext cx="4884723" cy="5024485"/>
          </a:xfrm>
        </p:spPr>
      </p:pic>
    </p:spTree>
    <p:extLst>
      <p:ext uri="{BB962C8B-B14F-4D97-AF65-F5344CB8AC3E}">
        <p14:creationId xmlns:p14="http://schemas.microsoft.com/office/powerpoint/2010/main" val="38139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16D1-6E5B-BA77-8F43-80D0631FB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024" y="107576"/>
            <a:ext cx="10772227" cy="919773"/>
          </a:xfrm>
        </p:spPr>
        <p:txBody>
          <a:bodyPr/>
          <a:lstStyle/>
          <a:p>
            <a:r>
              <a:rPr lang="en-GB" dirty="0"/>
              <a:t>Intro: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3705786-8131-FBD6-E8CF-DB29DCDC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/>
          <a:p>
            <a:r>
              <a:rPr lang="en-GB" dirty="0"/>
              <a:t>Zarnish Tirmizi </a:t>
            </a:r>
            <a:endParaRPr lang="en-US" dirty="0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D2877CA-93DC-27E4-7E88-A3BFD023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/>
          <a:lstStyle/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80214-D480-A4DA-83AE-72A2879904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07890" y="1027349"/>
            <a:ext cx="8266112" cy="4541837"/>
          </a:xfrm>
        </p:spPr>
        <p:txBody>
          <a:bodyPr>
            <a:normAutofit lnSpcReduction="10000"/>
          </a:bodyPr>
          <a:lstStyle/>
          <a:p>
            <a:r>
              <a:rPr lang="en-GB" sz="4000" dirty="0">
                <a:latin typeface="AngsanaUPC" panose="02020603050405020304" pitchFamily="18" charset="-34"/>
                <a:ea typeface="ADLaM Display" panose="02000000000000000000" pitchFamily="2" charset="0"/>
                <a:cs typeface="AngsanaUPC" panose="02020603050405020304" pitchFamily="18" charset="-34"/>
              </a:rPr>
              <a:t>Zarnish Tirmizi</a:t>
            </a:r>
            <a:r>
              <a:rPr lang="en-US" sz="4000" dirty="0">
                <a:latin typeface="AngsanaUPC" panose="02020603050405020304" pitchFamily="18" charset="-34"/>
                <a:ea typeface="ADLaM Display" panose="02000000000000000000" pitchFamily="2" charset="0"/>
                <a:cs typeface="AngsanaUPC" panose="02020603050405020304" pitchFamily="18" charset="-34"/>
              </a:rPr>
              <a:t>, a visionary </a:t>
            </a:r>
            <a:r>
              <a:rPr lang="en-GB" sz="4000" dirty="0">
                <a:latin typeface="AngsanaUPC" panose="02020603050405020304" pitchFamily="18" charset="-34"/>
                <a:ea typeface="ADLaM Display" panose="02000000000000000000" pitchFamily="2" charset="0"/>
                <a:cs typeface="AngsanaUPC" panose="02020603050405020304" pitchFamily="18" charset="-34"/>
              </a:rPr>
              <a:t>teacher with  enthusiasm  and ready to start her Charted Accountant  journey and thrilled to begin her  passion with profession with a positive attitude, recently completed her intermediate in Commerce and continuing studies</a:t>
            </a:r>
            <a:r>
              <a:rPr lang="en-GB" dirty="0"/>
              <a:t> 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90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091F-2E1A-3912-A662-9729BFF7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33" y="304500"/>
            <a:ext cx="11274252" cy="943805"/>
          </a:xfrm>
        </p:spPr>
        <p:txBody>
          <a:bodyPr>
            <a:normAutofit fontScale="90000"/>
          </a:bodyPr>
          <a:lstStyle/>
          <a:p>
            <a:r>
              <a:rPr lang="en-GB" dirty="0"/>
              <a:t>Personality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Traits: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C666B-BB3E-B2ED-8A5E-19221BAAE8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152" y="1798518"/>
            <a:ext cx="3597835" cy="2729631"/>
          </a:xfrm>
        </p:spPr>
        <p:txBody>
          <a:bodyPr>
            <a:noAutofit/>
          </a:bodyPr>
          <a:lstStyle/>
          <a:p>
            <a:r>
              <a:rPr lang="en-GB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Having a strong character means making decisions based on a set of core values. Here are my several personality traits ...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7AEC9E-CD35-42D1-BC0E-9ADB786E41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22978" y="1532515"/>
            <a:ext cx="777240" cy="777240"/>
          </a:xfrm>
        </p:spPr>
        <p:txBody>
          <a:bodyPr>
            <a:norm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1" name="Text Placeholder 110">
            <a:extLst>
              <a:ext uri="{FF2B5EF4-FFF2-40B4-BE49-F238E27FC236}">
                <a16:creationId xmlns:a16="http://schemas.microsoft.com/office/drawing/2014/main" id="{E98D4F18-5E2F-031D-60BB-4B142E36E3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1376" y="1355087"/>
            <a:ext cx="5052635" cy="1132097"/>
          </a:xfrm>
        </p:spPr>
        <p:txBody>
          <a:bodyPr>
            <a:normAutofit/>
          </a:bodyPr>
          <a:lstStyle/>
          <a:p>
            <a:r>
              <a:rPr lang="en-GB" dirty="0"/>
              <a:t>Imagination, curiosity, the enjoyment of abstract thinking and ideas.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9B9F52-1D1B-C12E-B4CD-FE05CFE5D1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22978" y="3030332"/>
            <a:ext cx="777240" cy="777240"/>
          </a:xfrm>
        </p:spPr>
        <p:txBody>
          <a:bodyPr>
            <a:norm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2" name="Text Placeholder 111">
            <a:extLst>
              <a:ext uri="{FF2B5EF4-FFF2-40B4-BE49-F238E27FC236}">
                <a16:creationId xmlns:a16="http://schemas.microsoft.com/office/drawing/2014/main" id="{43AE4C46-DDC1-E4A5-9BB9-D3B96E0DB1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1375" y="2852903"/>
            <a:ext cx="5052635" cy="1132097"/>
          </a:xfrm>
        </p:spPr>
        <p:txBody>
          <a:bodyPr>
            <a:normAutofit/>
          </a:bodyPr>
          <a:lstStyle/>
          <a:p>
            <a:r>
              <a:rPr lang="en-GB" dirty="0"/>
              <a:t>Consistency following through on commitments.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4D62A7-4691-23C9-A9A0-E32D8B7496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22978" y="4528149"/>
            <a:ext cx="777240" cy="77724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8C559730-60A8-902B-3589-AA34371DB4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1375" y="4350721"/>
            <a:ext cx="5052635" cy="1132097"/>
          </a:xfrm>
        </p:spPr>
        <p:txBody>
          <a:bodyPr>
            <a:normAutofit/>
          </a:bodyPr>
          <a:lstStyle/>
          <a:p>
            <a:r>
              <a:rPr lang="en-GB" dirty="0"/>
              <a:t>Perseverance and passion for long – term goals.</a:t>
            </a:r>
            <a:endParaRPr lang="en-US" dirty="0"/>
          </a:p>
        </p:txBody>
      </p:sp>
      <p:sp>
        <p:nvSpPr>
          <p:cNvPr id="114" name="Footer Placeholder 113">
            <a:extLst>
              <a:ext uri="{FF2B5EF4-FFF2-40B4-BE49-F238E27FC236}">
                <a16:creationId xmlns:a16="http://schemas.microsoft.com/office/drawing/2014/main" id="{40207CFE-CACC-9CEB-794D-0044294F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/>
          <a:p>
            <a:r>
              <a:rPr lang="en-GB" dirty="0"/>
              <a:t>Zarnish Tirmizi </a:t>
            </a:r>
            <a:endParaRPr lang="en-US" dirty="0"/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CC42DFEC-7500-6BE8-98B9-115C5A76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/>
          <a:lstStyle/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12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EE71E21-F825-552E-685A-A16DFD08C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440766"/>
            <a:ext cx="10506386" cy="586583"/>
          </a:xfrm>
        </p:spPr>
        <p:txBody>
          <a:bodyPr/>
          <a:lstStyle/>
          <a:p>
            <a:r>
              <a:rPr lang="en-GB" dirty="0"/>
              <a:t>Strengths &amp; weakness: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B02CA1-46F0-C88E-1D4D-AD45E4BEEC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0306" y="1665517"/>
            <a:ext cx="3498597" cy="233231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Everyone has some strengths and weakness and their lives and same as, mine are the following...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884F42-92FD-22A5-CA92-C0F2FCE9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/>
          <a:p>
            <a:r>
              <a:rPr lang="en-GB" dirty="0"/>
              <a:t>Zarnish Tirmizi 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88C50D6-EAAD-53D4-AB70-E52B1033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/>
          <a:lstStyle/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9BDA-D395-EC38-BC7A-900514614C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About me.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6F6920-7C1C-0FEF-8B36-E4BD57068D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2518" y="2826871"/>
            <a:ext cx="2791011" cy="968188"/>
          </a:xfrm>
        </p:spPr>
        <p:txBody>
          <a:bodyPr>
            <a:noAutofit/>
          </a:bodyPr>
          <a:lstStyle/>
          <a:p>
            <a:r>
              <a:rPr lang="en-GB" sz="2000" dirty="0"/>
              <a:t>STRENGTHS &amp;</a:t>
            </a:r>
          </a:p>
          <a:p>
            <a:r>
              <a:rPr lang="en-GB" sz="2000" dirty="0"/>
              <a:t>WEAKNESS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997494-0C8D-73CB-6A97-C12AB9EC56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0630" y="3279588"/>
            <a:ext cx="2659530" cy="2332318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Dedicated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Ability to work under pressure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Creative thinker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Collaboration  and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Self – Awareness </a:t>
            </a:r>
            <a:endParaRPr lang="en-US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A5C110-73FA-3DFA-73CC-89BD248A12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27757" y="1786964"/>
            <a:ext cx="2192856" cy="19153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Fear of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Self – criticism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/>
              <a:t>Impatient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6704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60">
            <a:extLst>
              <a:ext uri="{FF2B5EF4-FFF2-40B4-BE49-F238E27FC236}">
                <a16:creationId xmlns:a16="http://schemas.microsoft.com/office/drawing/2014/main" id="{9CFD1133-D47B-B071-80B5-9B3DE9117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153" y="269182"/>
            <a:ext cx="3904672" cy="1248842"/>
          </a:xfrm>
        </p:spPr>
        <p:txBody>
          <a:bodyPr>
            <a:normAutofit fontScale="90000"/>
          </a:bodyPr>
          <a:lstStyle/>
          <a:p>
            <a:pPr lvl="0"/>
            <a:r>
              <a:rPr lang="en-GB" noProof="0" dirty="0"/>
              <a:t>ACADEMIC 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ACHIEVEMENTS:</a:t>
            </a:r>
            <a:endParaRPr lang="en-US" noProof="0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FFD00155-E474-9430-8778-DBB3447847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153" y="2100107"/>
            <a:ext cx="3904672" cy="2131234"/>
          </a:xfrm>
        </p:spPr>
        <p:txBody>
          <a:bodyPr>
            <a:normAutofit/>
          </a:bodyPr>
          <a:lstStyle/>
          <a:p>
            <a:pPr lvl="0"/>
            <a:r>
              <a:rPr lang="en-GB" sz="2000" noProof="0" dirty="0">
                <a:latin typeface="AngsanaUPC" panose="02020603050405020304" pitchFamily="18" charset="-34"/>
                <a:cs typeface="AngsanaUPC" panose="02020603050405020304" pitchFamily="18" charset="-34"/>
              </a:rPr>
              <a:t>I have been a topper since childhood, and because of this, </a:t>
            </a:r>
            <a:r>
              <a:rPr lang="en-GB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I</a:t>
            </a:r>
            <a:r>
              <a:rPr lang="en-GB" sz="2000" noProof="0" dirty="0">
                <a:latin typeface="AngsanaUPC" panose="02020603050405020304" pitchFamily="18" charset="-34"/>
                <a:cs typeface="AngsanaUPC" panose="02020603050405020304" pitchFamily="18" charset="-34"/>
              </a:rPr>
              <a:t> have also received awards and proud of my abilities and skills. My institutions  had awarded me </a:t>
            </a:r>
            <a:r>
              <a:rPr lang="en-US" sz="2000" noProof="0" dirty="0">
                <a:latin typeface="AngsanaUPC" panose="02020603050405020304" pitchFamily="18" charset="-34"/>
                <a:cs typeface="AngsanaUPC" panose="02020603050405020304" pitchFamily="18" charset="-34"/>
              </a:rPr>
              <a:t>by various  awards and honors.</a:t>
            </a:r>
          </a:p>
        </p:txBody>
      </p:sp>
      <p:pic>
        <p:nvPicPr>
          <p:cNvPr id="29" name="Picture Placeholder 28" descr="Lightbulb and gear with solid fill">
            <a:extLst>
              <a:ext uri="{FF2B5EF4-FFF2-40B4-BE49-F238E27FC236}">
                <a16:creationId xmlns:a16="http://schemas.microsoft.com/office/drawing/2014/main" id="{EA389015-8F43-65E9-7E4D-71F037E4D83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8" b="108"/>
          <a:stretch/>
        </p:blipFill>
        <p:spPr>
          <a:xfrm>
            <a:off x="5559245" y="1239133"/>
            <a:ext cx="731520" cy="731520"/>
          </a:xfr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3D22A32-5716-1278-A5B3-6B3E3B307B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6617" y="2504151"/>
            <a:ext cx="1636776" cy="82185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Position </a:t>
            </a:r>
          </a:p>
          <a:p>
            <a:r>
              <a:rPr lang="en-GB" dirty="0"/>
              <a:t>In Suparco  </a:t>
            </a:r>
          </a:p>
          <a:p>
            <a:r>
              <a:rPr lang="en-GB" dirty="0"/>
              <a:t>Poster competition </a:t>
            </a:r>
          </a:p>
        </p:txBody>
      </p:sp>
      <p:pic>
        <p:nvPicPr>
          <p:cNvPr id="44" name="Picture Placeholder 43" descr="Medal with solid fill">
            <a:extLst>
              <a:ext uri="{FF2B5EF4-FFF2-40B4-BE49-F238E27FC236}">
                <a16:creationId xmlns:a16="http://schemas.microsoft.com/office/drawing/2014/main" id="{4F1F658D-E5C7-2D5C-91AA-B82EA04B8993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08" b="108"/>
          <a:stretch/>
        </p:blipFill>
        <p:spPr>
          <a:xfrm>
            <a:off x="7867941" y="1239133"/>
            <a:ext cx="731520" cy="731520"/>
          </a:xfr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B1E81C1-9823-D1E2-968B-308B06E6F8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15313" y="2504151"/>
            <a:ext cx="1636776" cy="82185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SILVER MEDAL </a:t>
            </a:r>
          </a:p>
          <a:p>
            <a:r>
              <a:rPr lang="en-GB" dirty="0"/>
              <a:t>IN HRCA QUIZ </a:t>
            </a:r>
          </a:p>
          <a:p>
            <a:r>
              <a:rPr lang="en-GB" dirty="0"/>
              <a:t>COMPITITION </a:t>
            </a:r>
            <a:endParaRPr lang="en-US" dirty="0"/>
          </a:p>
        </p:txBody>
      </p:sp>
      <p:pic>
        <p:nvPicPr>
          <p:cNvPr id="45" name="Picture Placeholder 44" descr="Trophy with solid fill">
            <a:extLst>
              <a:ext uri="{FF2B5EF4-FFF2-40B4-BE49-F238E27FC236}">
                <a16:creationId xmlns:a16="http://schemas.microsoft.com/office/drawing/2014/main" id="{58A1B631-A954-91A2-1717-0C19003447F9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08" b="108"/>
          <a:stretch/>
        </p:blipFill>
        <p:spPr>
          <a:xfrm>
            <a:off x="10176637" y="1239133"/>
            <a:ext cx="731520" cy="731520"/>
          </a:xfrm>
        </p:spPr>
      </p:pic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D383A2-F3E3-8249-A589-FEECEF2B4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24009" y="2504151"/>
            <a:ext cx="1636776" cy="82185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Top 20</a:t>
            </a:r>
            <a:r>
              <a:rPr lang="en-GB" baseline="30000" dirty="0"/>
              <a:t>th</a:t>
            </a:r>
            <a:r>
              <a:rPr lang="en-GB" dirty="0"/>
              <a:t> Position in intermediate 2024</a:t>
            </a:r>
            <a:endParaRPr lang="en-US" dirty="0"/>
          </a:p>
        </p:txBody>
      </p:sp>
      <p:pic>
        <p:nvPicPr>
          <p:cNvPr id="46" name="Picture Placeholder 45" descr="Ribbon with solid fill">
            <a:extLst>
              <a:ext uri="{FF2B5EF4-FFF2-40B4-BE49-F238E27FC236}">
                <a16:creationId xmlns:a16="http://schemas.microsoft.com/office/drawing/2014/main" id="{57520DA4-9A30-7E7B-9817-318F7F77A0E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559245" y="3895767"/>
            <a:ext cx="731520" cy="731520"/>
          </a:xfrm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9A37EEB-B67D-74BB-E61C-0ED502D8B2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06617" y="5112564"/>
            <a:ext cx="1636776" cy="82185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position in comic book making competition</a:t>
            </a:r>
            <a:endParaRPr lang="en-US" dirty="0"/>
          </a:p>
        </p:txBody>
      </p:sp>
      <p:pic>
        <p:nvPicPr>
          <p:cNvPr id="47" name="Picture Placeholder 46" descr="Diploma with solid fill">
            <a:extLst>
              <a:ext uri="{FF2B5EF4-FFF2-40B4-BE49-F238E27FC236}">
                <a16:creationId xmlns:a16="http://schemas.microsoft.com/office/drawing/2014/main" id="{8BE068B1-67E0-67BA-098C-E88A771ABB82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867941" y="3895767"/>
            <a:ext cx="731520" cy="731520"/>
          </a:xfr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72F4EFC-7752-72C4-7D97-7FE0AFA109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15313" y="5122612"/>
            <a:ext cx="1636776" cy="8218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IMPACTFUL </a:t>
            </a:r>
            <a:br>
              <a:rPr lang="en-US" dirty="0"/>
            </a:br>
            <a:r>
              <a:rPr lang="en-GB" dirty="0"/>
              <a:t>CHART </a:t>
            </a:r>
          </a:p>
          <a:p>
            <a:r>
              <a:rPr lang="en-GB" dirty="0"/>
              <a:t>Maker </a:t>
            </a:r>
            <a:endParaRPr lang="en-US" dirty="0"/>
          </a:p>
        </p:txBody>
      </p:sp>
      <p:pic>
        <p:nvPicPr>
          <p:cNvPr id="48" name="Picture Placeholder 47" descr="Wreath with solid fill">
            <a:extLst>
              <a:ext uri="{FF2B5EF4-FFF2-40B4-BE49-F238E27FC236}">
                <a16:creationId xmlns:a16="http://schemas.microsoft.com/office/drawing/2014/main" id="{F74DD674-0311-9344-A231-BF6F87E7CD2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176637" y="3895767"/>
            <a:ext cx="731520" cy="731520"/>
          </a:xfrm>
        </p:spPr>
      </p:pic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8D6A656-0278-69AD-F067-352900FF01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24009" y="5122612"/>
            <a:ext cx="1636776" cy="82185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Highest percentage In School </a:t>
            </a:r>
            <a:endParaRPr lang="en-US" dirty="0"/>
          </a:p>
        </p:txBody>
      </p:sp>
      <p:sp>
        <p:nvSpPr>
          <p:cNvPr id="105" name="Footer Placeholder 104">
            <a:extLst>
              <a:ext uri="{FF2B5EF4-FFF2-40B4-BE49-F238E27FC236}">
                <a16:creationId xmlns:a16="http://schemas.microsoft.com/office/drawing/2014/main" id="{3A7563AE-5F48-A962-D463-51E296D1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/>
          <a:p>
            <a:r>
              <a:rPr lang="en-GB" dirty="0"/>
              <a:t>Zarnish Tirmizi </a:t>
            </a:r>
            <a:endParaRPr lang="en-US" dirty="0"/>
          </a:p>
        </p:txBody>
      </p:sp>
      <p:sp>
        <p:nvSpPr>
          <p:cNvPr id="106" name="Slide Number Placeholder 105">
            <a:extLst>
              <a:ext uri="{FF2B5EF4-FFF2-40B4-BE49-F238E27FC236}">
                <a16:creationId xmlns:a16="http://schemas.microsoft.com/office/drawing/2014/main" id="{66F4DAA0-DC1C-D290-2231-525BE712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/>
          <a:lstStyle/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5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1A49-8199-ECBA-F9E7-551BEFA74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453137"/>
            <a:ext cx="4981500" cy="754993"/>
          </a:xfrm>
        </p:spPr>
        <p:txBody>
          <a:bodyPr>
            <a:normAutofit/>
          </a:bodyPr>
          <a:lstStyle/>
          <a:p>
            <a:r>
              <a:rPr lang="en-GB" dirty="0"/>
              <a:t>Interests: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B9E40-329B-1448-523D-8791DC39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/>
          <a:p>
            <a:r>
              <a:rPr lang="en-GB" dirty="0"/>
              <a:t>Zarnish Tirmizi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DD635-374F-7346-179D-A902DF5C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/>
          <a:lstStyle/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CB59F7-FF81-933E-1DF5-AB9F201018A5}"/>
              </a:ext>
            </a:extLst>
          </p:cNvPr>
          <p:cNvSpPr txBox="1"/>
          <p:nvPr/>
        </p:nvSpPr>
        <p:spPr>
          <a:xfrm>
            <a:off x="460189" y="1625600"/>
            <a:ext cx="25280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Love to wander new places.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Art and crafts.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Explore more about World.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Solving Mathematical problems, as is it my favourite subject.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73E25-22D1-D0CD-A29A-F57E22E10F2D}"/>
              </a:ext>
            </a:extLst>
          </p:cNvPr>
          <p:cNvSpPr txBox="1"/>
          <p:nvPr/>
        </p:nvSpPr>
        <p:spPr>
          <a:xfrm>
            <a:off x="3639317" y="623355"/>
            <a:ext cx="36488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chemeClr val="bg1"/>
                </a:solidFill>
                <a:latin typeface="+mj-lt"/>
              </a:rPr>
              <a:t>FAVOURITE TOPIC: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AE052C-BDD8-93D7-271C-218618251805}"/>
              </a:ext>
            </a:extLst>
          </p:cNvPr>
          <p:cNvSpPr txBox="1"/>
          <p:nvPr/>
        </p:nvSpPr>
        <p:spPr>
          <a:xfrm>
            <a:off x="3538071" y="2175436"/>
            <a:ext cx="3161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 like to talk more about cricket matches and also favourite topic of discussion is to get more information about Charted Accounting (CA). </a:t>
            </a:r>
            <a:endParaRPr lang="en-US" sz="24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A3E4C-8D25-B0ED-D388-1D1BAAABF6AC}"/>
              </a:ext>
            </a:extLst>
          </p:cNvPr>
          <p:cNvSpPr txBox="1"/>
          <p:nvPr/>
        </p:nvSpPr>
        <p:spPr>
          <a:xfrm>
            <a:off x="6890358" y="623355"/>
            <a:ext cx="26959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chemeClr val="bg1"/>
                </a:solidFill>
                <a:latin typeface="+mj-lt"/>
              </a:rPr>
              <a:t>FUTURE GOALS: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E60A39-B714-5B3E-808E-763365F7AF58}"/>
              </a:ext>
            </a:extLst>
          </p:cNvPr>
          <p:cNvSpPr txBox="1"/>
          <p:nvPr/>
        </p:nvSpPr>
        <p:spPr>
          <a:xfrm>
            <a:off x="6890358" y="1870792"/>
            <a:ext cx="22895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 want to become a Charted Accountant (CA)</a:t>
            </a:r>
          </a:p>
          <a:p>
            <a:pPr algn="l"/>
            <a:r>
              <a:rPr lang="en-GB" sz="2400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And also want to learn graphic designing and advance Information Technology. </a:t>
            </a:r>
            <a:endParaRPr lang="en-US" sz="24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667EB-F296-2502-D904-860AD8500ACB}"/>
              </a:ext>
            </a:extLst>
          </p:cNvPr>
          <p:cNvSpPr txBox="1"/>
          <p:nvPr/>
        </p:nvSpPr>
        <p:spPr>
          <a:xfrm>
            <a:off x="9408484" y="623355"/>
            <a:ext cx="1853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chemeClr val="bg1"/>
                </a:solidFill>
                <a:latin typeface="+mj-lt"/>
              </a:rPr>
              <a:t>ROLE MODEL: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E2D567-0207-024D-0D31-0CEFAC7E8247}"/>
              </a:ext>
            </a:extLst>
          </p:cNvPr>
          <p:cNvSpPr txBox="1"/>
          <p:nvPr/>
        </p:nvSpPr>
        <p:spPr>
          <a:xfrm>
            <a:off x="9408484" y="2175436"/>
            <a:ext cx="25280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My ‘GRANDMOTHER ‘ is my role model because she was  very hardworking woman and also Principal of school.</a:t>
            </a:r>
            <a:endParaRPr lang="en-US" sz="24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5826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5898-B41A-2D9A-ABB7-DE8B01AB5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214692"/>
            <a:ext cx="3713700" cy="1245980"/>
          </a:xfrm>
        </p:spPr>
        <p:txBody>
          <a:bodyPr>
            <a:normAutofit fontScale="90000"/>
          </a:bodyPr>
          <a:lstStyle/>
          <a:p>
            <a:pPr lvl="0"/>
            <a:r>
              <a:rPr lang="en-GB" noProof="0" dirty="0"/>
              <a:t>Skilled learned in this course: 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2ECFB-2308-495C-A870-B32B4A3A76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6" y="1780988"/>
            <a:ext cx="11833412" cy="4402513"/>
          </a:xfrm>
        </p:spPr>
        <p:txBody>
          <a:bodyPr>
            <a:noAutofit/>
          </a:bodyPr>
          <a:lstStyle/>
          <a:p>
            <a:r>
              <a:rPr lang="en-GB" dirty="0"/>
              <a:t>I  have  learned about IT, Input  and output devices, software and hardware and operating system</a:t>
            </a:r>
            <a:r>
              <a:rPr lang="en-US" dirty="0"/>
              <a:t>.</a:t>
            </a:r>
            <a:endParaRPr lang="en-GB" dirty="0"/>
          </a:p>
          <a:p>
            <a:r>
              <a:rPr lang="en-GB" dirty="0"/>
              <a:t>Learned how to create GitHub, Linked in and Slack accounts.</a:t>
            </a:r>
          </a:p>
          <a:p>
            <a:r>
              <a:rPr lang="en-GB" dirty="0"/>
              <a:t>Learned about Microsoft Office including how to install MS OFFICE in PC.</a:t>
            </a:r>
          </a:p>
          <a:p>
            <a:r>
              <a:rPr lang="en-GB" dirty="0"/>
              <a:t>Learned MS WORD, MS EXCEL, MS POWERPONT, also related information about these. </a:t>
            </a:r>
          </a:p>
          <a:p>
            <a:r>
              <a:rPr lang="en-GB" dirty="0"/>
              <a:t>Learned different shortcuts keys  which make it easy to use PC.</a:t>
            </a:r>
          </a:p>
          <a:p>
            <a:r>
              <a:rPr lang="en-GB" dirty="0"/>
              <a:t>Learned Python Programming, Networking etc.</a:t>
            </a:r>
          </a:p>
          <a:p>
            <a:r>
              <a:rPr lang="en-GB" dirty="0"/>
              <a:t>Learned how to make CV on different platforms, Expense tracker, Certificates, Presentations etc.</a:t>
            </a:r>
            <a:endParaRPr lang="en-US" dirty="0"/>
          </a:p>
          <a:p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E1D331B-00D9-AF8A-EED7-38C7312F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/>
          <a:p>
            <a:r>
              <a:rPr lang="en-GB" dirty="0"/>
              <a:t>Zarnish Tirmizi 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24B3F9C-8F1F-B774-A218-3173242F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/>
          <a:lstStyle/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995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91CB-F46D-85EC-C93A-7CA0D4306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214692"/>
            <a:ext cx="3713700" cy="1245980"/>
          </a:xfrm>
        </p:spPr>
        <p:txBody>
          <a:bodyPr/>
          <a:lstStyle/>
          <a:p>
            <a:pPr lvl="0"/>
            <a:r>
              <a:rPr lang="en-GB" noProof="0" dirty="0"/>
              <a:t>Fun fact about me: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E86BE-3601-3793-7981-28D3C11E52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6287" y="2059910"/>
            <a:ext cx="5187054" cy="2087761"/>
          </a:xfrm>
        </p:spPr>
        <p:txBody>
          <a:bodyPr/>
          <a:lstStyle/>
          <a:p>
            <a:pPr lvl="0"/>
            <a:r>
              <a:rPr lang="en-GB" sz="3200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If I were a genius inventor, I would most likely to invent a “Mind Reading Device” through which, I can read people’s mind.</a:t>
            </a:r>
            <a:endParaRPr lang="en-US" sz="3200" noProof="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25C9E-5D9A-5996-6464-361D9C8BA9F7}"/>
              </a:ext>
            </a:extLst>
          </p:cNvPr>
          <p:cNvSpPr txBox="1"/>
          <p:nvPr/>
        </p:nvSpPr>
        <p:spPr>
          <a:xfrm>
            <a:off x="3191435" y="5471805"/>
            <a:ext cx="6544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u="sng" dirty="0">
                <a:solidFill>
                  <a:schemeClr val="bg1"/>
                </a:solidFill>
                <a:latin typeface="+mj-lt"/>
              </a:rPr>
              <a:t>.           Thank-you          . 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0143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D4D0E9"/>
      </a:accent2>
      <a:accent3>
        <a:srgbClr val="0070C0"/>
      </a:accent3>
      <a:accent4>
        <a:srgbClr val="FFC000"/>
      </a:accent4>
      <a:accent5>
        <a:srgbClr val="362795"/>
      </a:accent5>
      <a:accent6>
        <a:srgbClr val="70AD47"/>
      </a:accent6>
      <a:hlink>
        <a:srgbClr val="85DFFF"/>
      </a:hlink>
      <a:folHlink>
        <a:srgbClr val="00B0F0"/>
      </a:folHlink>
    </a:clrScheme>
    <a:fontScheme name="Custom 61">
      <a:majorFont>
        <a:latin typeface="Batang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175639_Win32_SL_V3" id="{E3BABE8A-5E36-4CEB-8367-07951D61F935}" vid="{CBF2C544-30BB-46F6-928C-1C11FB7997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2B3A36-3019-4E93-B322-5E261AC5876F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51C2A15-7366-43A1-B7CD-9C6962E5A8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39EF8B-F994-4519-B48E-10C452FEADBA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350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Zarnish  Tirmizi </vt:lpstr>
      <vt:lpstr>Intro:</vt:lpstr>
      <vt:lpstr>Personality   Traits:</vt:lpstr>
      <vt:lpstr>Strengths &amp; weakness:</vt:lpstr>
      <vt:lpstr>ACADEMIC   ACHIEVEMENTS:</vt:lpstr>
      <vt:lpstr>Interests:</vt:lpstr>
      <vt:lpstr>Skilled learned in this course: </vt:lpstr>
      <vt:lpstr>Fun fact about me: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Zarnish  Tirmizi </dc:title>
  <dc:creator/>
  <cp:lastModifiedBy>Saba Ismail</cp:lastModifiedBy>
  <cp:revision>2</cp:revision>
  <dcterms:created xsi:type="dcterms:W3CDTF">2023-07-17T18:59:19Z</dcterms:created>
  <dcterms:modified xsi:type="dcterms:W3CDTF">2025-09-27T16:16:19Z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